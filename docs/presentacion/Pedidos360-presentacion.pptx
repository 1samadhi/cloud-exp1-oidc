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10360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DA2FF"/>
                </a:solidFill>
                <a:latin typeface="Calibri"/>
              </a:rPr>
              <a:t>DSY1107 · EVALUACION PARCIAL N.º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015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600" b="1">
                <a:solidFill>
                  <a:srgbClr val="FFFFFF"/>
                </a:solidFill>
                <a:latin typeface="Calibri"/>
              </a:rPr>
              <a:t>Pedidos360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700" b="0" i="0">
                <a:solidFill>
                  <a:srgbClr val="A8B0BF"/>
                </a:solidFill>
                <a:latin typeface="Calibri"/>
              </a:rPr>
              <a:t>Arquitectura cloud-native multi-nube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 i="0">
                <a:solidFill>
                  <a:srgbClr val="A8B0BF"/>
                </a:solidFill>
                <a:latin typeface="Calibri"/>
              </a:rPr>
              <a:t>con OAuth 2.0 y OpenID Connect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9204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ESTUDIANTES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A8B0BF"/>
                </a:solidFill>
                <a:latin typeface="Calibri"/>
              </a:rPr>
              <a:t>Ismael Oyarzun Montiel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A8B0BF"/>
                </a:solidFill>
                <a:latin typeface="Calibri"/>
              </a:rPr>
              <a:t>Diego Villota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489204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IDENTIDAD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A8B0BF"/>
                </a:solidFill>
                <a:latin typeface="Calibri"/>
              </a:rPr>
              <a:t>Microsoft Entra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89204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COMPUTO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A8B0BF"/>
                </a:solidFill>
                <a:latin typeface="Calibri"/>
              </a:rPr>
              <a:t>Amazon Web Services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4FD8"/>
                </a:solidFill>
                <a:latin typeface="Calibr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Dos nubes que no se conocen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14161C"/>
                </a:solidFill>
                <a:latin typeface="Calibri"/>
              </a:rPr>
              <a:t>La identidad la administra </a:t>
            </a:r>
            <a:r>
              <a:rPr sz="1900" b="1" i="0">
                <a:solidFill>
                  <a:srgbClr val="14161C"/>
                </a:solidFill>
                <a:latin typeface="Calibri"/>
              </a:rPr>
              <a:t>Azure</a:t>
            </a:r>
            <a:r>
              <a:rPr sz="1900" b="0" i="0">
                <a:solidFill>
                  <a:srgbClr val="14161C"/>
                </a:solidFill>
                <a:latin typeface="Calibri"/>
              </a:rPr>
              <a:t>. El computo vive en </a:t>
            </a:r>
            <a:r>
              <a:rPr sz="1900" b="1" i="0">
                <a:solidFill>
                  <a:srgbClr val="14161C"/>
                </a:solidFill>
                <a:latin typeface="Calibri"/>
              </a:rPr>
              <a:t>AWS</a:t>
            </a:r>
            <a:r>
              <a:rPr sz="1900" b="0" i="0">
                <a:solidFill>
                  <a:srgbClr val="14161C"/>
                </a:solidFill>
                <a:latin typeface="Calibri"/>
              </a:rPr>
              <a:t>. No comparten red, ni base de datos, ni credenciales.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14161C"/>
                </a:solidFill>
                <a:latin typeface="Calibri"/>
              </a:rPr>
              <a:t>El unico puente es el </a:t>
            </a:r>
            <a:r>
              <a:rPr sz="1900" b="1" i="0">
                <a:solidFill>
                  <a:srgbClr val="14161C"/>
                </a:solidFill>
                <a:latin typeface="Calibri"/>
              </a:rPr>
              <a:t>JWKS</a:t>
            </a:r>
            <a:r>
              <a:rPr sz="1900" b="0" i="0">
                <a:solidFill>
                  <a:srgbClr val="14161C"/>
                </a:solidFill>
                <a:latin typeface="Calibri"/>
              </a:rPr>
              <a:t>: una URL publica desde la que AWS descarga las llaves con que verificar las firmas que emite Azure.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1" i="0">
                <a:solidFill>
                  <a:srgbClr val="1F4FD8"/>
                </a:solidFill>
                <a:latin typeface="Calibri"/>
              </a:rPr>
              <a:t>Solo criptografia de llave publica.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Pedidos360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4FD8"/>
                </a:solidFill>
                <a:latin typeface="Calibri"/>
              </a:rPr>
              <a:t>ARQUITECTURA</a:t>
            </a:r>
          </a:p>
        </p:txBody>
      </p:sp>
      <p:pic>
        <p:nvPicPr>
          <p:cNvPr id="3" name="Picture 2" descr="dia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51560"/>
            <a:ext cx="10360152" cy="503618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El token nace en Azure, se valida en el borde de AWS y otra vez dentro de cada microservicio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4FD8"/>
                </a:solidFill>
                <a:latin typeface="Calibri"/>
              </a:rPr>
              <a:t>COMPONENTES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Tres microservicios y un frontend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057400"/>
          <a:ext cx="10360152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26080"/>
                <a:gridCol w="7434072"/>
              </a:tblGrid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5F6673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5F6673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front-angular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Angular 22 + MSAL. Authorization Code con PKCE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ms-productos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Catalogo. Resource Server OAuth 2.0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ms-pedidos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Pedidos. Autorizacion por rol y por scope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ms-auth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BFF: registra usuarios en el tenant via Microsoft Graph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Amazon RDS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MySQL 8, sin acceso desde Internet</a:t>
                      </a:r>
                    </a:p>
                  </a:txBody>
                  <a:tcPr anchor="ctr" marL="45720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Pedidos360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2410C"/>
                </a:solidFill>
                <a:latin typeface="Calibri"/>
              </a:rPr>
              <a:t>DEMOSTRACION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El tenant en el IDaaS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57984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0824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Tenant </a:t>
            </a:r>
            <a:r>
              <a:rPr sz="1400" b="1" i="0">
                <a:solidFill>
                  <a:srgbClr val="14161C"/>
                </a:solidFill>
                <a:latin typeface="Calibri"/>
              </a:rPr>
              <a:t>Pedidos360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en Microsoft Entra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78608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441448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Usuarios registrados con sus </a:t>
            </a:r>
            <a:r>
              <a:rPr sz="1400" b="1" i="0">
                <a:solidFill>
                  <a:srgbClr val="14161C"/>
                </a:solidFill>
                <a:latin typeface="Calibri"/>
              </a:rPr>
              <a:t>roles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asignados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99232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862072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Uno de ellos creado desde el propio 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057400"/>
            <a:ext cx="4782312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tIns="219456" rIns="219456"/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 i="0">
                <a:solidFill>
                  <a:srgbClr val="14161C"/>
                </a:solidFill>
                <a:latin typeface="Calibri"/>
              </a:rPr>
              <a:t>Entra ID Free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i="0">
                <a:solidFill>
                  <a:srgbClr val="5F6673"/>
                </a:solidFill>
                <a:latin typeface="Calibri"/>
              </a:rPr>
              <a:t>No trae autoservicio de registro. El formulario del frontend llama a </a:t>
            </a:r>
            <a:r>
              <a:rPr sz="1200" b="0" i="0">
                <a:solidFill>
                  <a:srgbClr val="5F6673"/>
                </a:solidFill>
                <a:latin typeface="Consolas"/>
              </a:rPr>
              <a:t>ms-auth</a:t>
            </a:r>
            <a:r>
              <a:rPr sz="1200" b="0" i="0">
                <a:solidFill>
                  <a:srgbClr val="5F6673"/>
                </a:solidFill>
                <a:latin typeface="Calibri"/>
              </a:rPr>
              <a:t>, que crea la cuenta con Microsoft Graph usando su propio secreto. Una SPA no podria: tendria que exponerlo.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057400"/>
            <a:ext cx="45720" cy="21031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entra.microsoft.com →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2410C"/>
                </a:solidFill>
                <a:latin typeface="Calibri"/>
              </a:rPr>
              <a:t>DEMOSTRACION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La aplicacion registrada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57984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0824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Redirecciones de tipo </a:t>
            </a:r>
            <a:r>
              <a:rPr sz="1400" b="1" i="0">
                <a:solidFill>
                  <a:srgbClr val="14161C"/>
                </a:solidFill>
                <a:latin typeface="Calibri"/>
              </a:rPr>
              <a:t>SPA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, con </a:t>
            </a:r>
            <a:r>
              <a:rPr sz="1400" b="0" i="0">
                <a:solidFill>
                  <a:srgbClr val="14161C"/>
                </a:solidFill>
                <a:latin typeface="Consolas"/>
              </a:rPr>
              <a:t>Web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vacio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78608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441448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Scopes </a:t>
            </a:r>
            <a:r>
              <a:rPr sz="1400" b="0" i="0">
                <a:solidFill>
                  <a:srgbClr val="14161C"/>
                </a:solidFill>
                <a:latin typeface="Consolas"/>
              </a:rPr>
              <a:t>productos.leer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y </a:t>
            </a:r>
            <a:r>
              <a:rPr sz="1400" b="0" i="0">
                <a:solidFill>
                  <a:srgbClr val="14161C"/>
                </a:solidFill>
                <a:latin typeface="Consolas"/>
              </a:rPr>
              <a:t>pedidos.escribir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99232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862072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Roles </a:t>
            </a:r>
            <a:r>
              <a:rPr sz="1400" b="0" i="0">
                <a:solidFill>
                  <a:srgbClr val="14161C"/>
                </a:solidFill>
                <a:latin typeface="Consolas"/>
              </a:rPr>
              <a:t>ADMIN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y </a:t>
            </a:r>
            <a:r>
              <a:rPr sz="1400" b="0" i="0">
                <a:solidFill>
                  <a:srgbClr val="14161C"/>
                </a:solidFill>
                <a:latin typeface="Consolas"/>
              </a:rPr>
              <a:t>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057400"/>
            <a:ext cx="4782312" cy="2286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tIns="219456" rIns="219456"/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 i="0">
                <a:solidFill>
                  <a:srgbClr val="14161C"/>
                </a:solidFill>
                <a:latin typeface="Calibri"/>
              </a:rPr>
              <a:t>La decision que no perdona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i="0">
                <a:solidFill>
                  <a:srgbClr val="5F6673"/>
                </a:solidFill>
                <a:latin typeface="Calibri"/>
              </a:rPr>
              <a:t>Con </a:t>
            </a:r>
            <a:r>
              <a:rPr sz="1200" b="0" i="0">
                <a:solidFill>
                  <a:srgbClr val="5F6673"/>
                </a:solidFill>
                <a:latin typeface="Consolas"/>
              </a:rPr>
              <a:t>Web</a:t>
            </a:r>
            <a:r>
              <a:rPr sz="1200" b="0" i="0">
                <a:solidFill>
                  <a:srgbClr val="5F6673"/>
                </a:solidFill>
                <a:latin typeface="Calibri"/>
              </a:rPr>
              <a:t>, Azure exige un </a:t>
            </a:r>
            <a:r>
              <a:rPr sz="1200" b="0" i="0">
                <a:solidFill>
                  <a:srgbClr val="5F6673"/>
                </a:solidFill>
                <a:latin typeface="Consolas"/>
              </a:rPr>
              <a:t>client_secret</a:t>
            </a:r>
            <a:r>
              <a:rPr sz="1200" b="0" i="0">
                <a:solidFill>
                  <a:srgbClr val="5F6673"/>
                </a:solidFill>
                <a:latin typeface="Calibri"/>
              </a:rPr>
              <a:t> que una SPA no puede esconder. Con </a:t>
            </a:r>
            <a:r>
              <a:rPr sz="1200" b="0" i="0">
                <a:solidFill>
                  <a:srgbClr val="5F6673"/>
                </a:solidFill>
                <a:latin typeface="Consolas"/>
              </a:rPr>
              <a:t>SPA</a:t>
            </a:r>
            <a:r>
              <a:rPr sz="1200" b="0" i="0">
                <a:solidFill>
                  <a:srgbClr val="5F6673"/>
                </a:solidFill>
                <a:latin typeface="Calibri"/>
              </a:rPr>
              <a:t> habilita PKCE. Elegir mal no da ningun error evidente: el login falla recien al canjear el codigo.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057400"/>
            <a:ext cx="45720" cy="2286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App registrations → Pedidos360 SPA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2410C"/>
                </a:solidFill>
                <a:latin typeface="Calibri"/>
              </a:rPr>
              <a:t>DEMOSTRACION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Inicio de sesion y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800" b="0" i="0">
                <a:solidFill>
                  <a:srgbClr val="14161C"/>
                </a:solidFill>
                <a:latin typeface="Calibri"/>
              </a:rPr>
              <a:t>Login con Microsoft desde la aplicacion, y en la pagina </a:t>
            </a:r>
            <a:r>
              <a:rPr sz="1800" b="1" i="0">
                <a:solidFill>
                  <a:srgbClr val="14161C"/>
                </a:solidFill>
                <a:latin typeface="Calibri"/>
              </a:rPr>
              <a:t>Mi token</a:t>
            </a:r>
            <a:r>
              <a:rPr sz="1800" b="0" i="0">
                <a:solidFill>
                  <a:srgbClr val="14161C"/>
                </a:solidFill>
                <a:latin typeface="Calibri"/>
              </a:rPr>
              <a:t>: el </a:t>
            </a:r>
            <a:r>
              <a:rPr sz="1800" b="0" i="0">
                <a:solidFill>
                  <a:srgbClr val="14161C"/>
                </a:solidFill>
                <a:latin typeface="Consolas"/>
              </a:rPr>
              <a:t>id_token</a:t>
            </a:r>
            <a:r>
              <a:rPr sz="1800" b="0" i="0">
                <a:solidFill>
                  <a:srgbClr val="14161C"/>
                </a:solidFill>
                <a:latin typeface="Calibri"/>
              </a:rPr>
              <a:t> con la identidad, el </a:t>
            </a:r>
            <a:r>
              <a:rPr sz="1800" b="0" i="0">
                <a:solidFill>
                  <a:srgbClr val="14161C"/>
                </a:solidFill>
                <a:latin typeface="Consolas"/>
              </a:rPr>
              <a:t>access_token</a:t>
            </a:r>
            <a:r>
              <a:rPr sz="1800" b="0" i="0">
                <a:solidFill>
                  <a:srgbClr val="14161C"/>
                </a:solidFill>
                <a:latin typeface="Calibri"/>
              </a:rPr>
              <a:t> con </a:t>
            </a:r>
            <a:r>
              <a:rPr sz="1800" b="0" i="0">
                <a:solidFill>
                  <a:srgbClr val="14161C"/>
                </a:solidFill>
                <a:latin typeface="Consolas"/>
              </a:rPr>
              <a:t>scp</a:t>
            </a:r>
            <a:r>
              <a:rPr sz="1800" b="0" i="0">
                <a:solidFill>
                  <a:srgbClr val="14161C"/>
                </a:solidFill>
                <a:latin typeface="Calibri"/>
              </a:rPr>
              <a:t> y </a:t>
            </a:r>
            <a:r>
              <a:rPr sz="1800" b="0" i="0">
                <a:solidFill>
                  <a:srgbClr val="14161C"/>
                </a:solidFill>
                <a:latin typeface="Consolas"/>
              </a:rPr>
              <a:t>roles</a:t>
            </a:r>
            <a:r>
              <a:rPr sz="1800" b="0" i="0">
                <a:solidFill>
                  <a:srgbClr val="14161C"/>
                </a:solidFill>
                <a:latin typeface="Calibri"/>
              </a:rPr>
              <a:t>, y lo que ve el microservicio tras validar la firma.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tIns="219456" rIns="219456"/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 i="0">
                <a:solidFill>
                  <a:srgbClr val="14161C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i="0">
                <a:solidFill>
                  <a:srgbClr val="5F6673"/>
                </a:solidFill>
                <a:latin typeface="Calibri"/>
              </a:rPr>
              <a:t>Un JWT va </a:t>
            </a:r>
            <a:r>
              <a:rPr sz="1200" b="1" i="0">
                <a:solidFill>
                  <a:srgbClr val="5F6673"/>
                </a:solidFill>
                <a:latin typeface="Calibri"/>
              </a:rPr>
              <a:t>firmado, no cifrado</a:t>
            </a:r>
            <a:r>
              <a:rPr sz="1200" b="0" i="0">
                <a:solidFill>
                  <a:srgbClr val="5F6673"/>
                </a:solidFill>
                <a:latin typeface="Calibri"/>
              </a:rPr>
              <a:t>. Cualquiera puede leer su contenido; nadie puede modificarlo sin invalidar la firma.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57600"/>
            <a:ext cx="45720" cy="91440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La aplicacion consume la API a traves del API 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4FD8"/>
                </a:solidFill>
                <a:latin typeface="Calibri"/>
              </a:rPr>
              <a:t>LA PRUEBA DE PKCE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Que el login funcione no demuestra PKCE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Un flujo implicito tambien iniciaria sesion. Lo que lo demuestra es la peticion al endpoint de autorizacion: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24328"/>
            <a:ext cx="10360152" cy="120700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164592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14161C"/>
                </a:solidFill>
                <a:latin typeface="Consolas"/>
              </a:rPr>
              <a:t>response_type         = code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14161C"/>
                </a:solidFill>
                <a:latin typeface="Consolas"/>
              </a:rPr>
              <a:t>code_challenge        = wKgfDWE2Xsjbnw0Vb50XLGrTVfQYtl9D9VRU-B1J_qk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14161C"/>
                </a:solidFill>
                <a:latin typeface="Consolas"/>
              </a:rPr>
              <a:t>code_challenge_method = S256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24328"/>
            <a:ext cx="45720" cy="120700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14216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El navegador inventa un </a:t>
            </a:r>
            <a:r>
              <a:rPr sz="1400" b="0" i="0">
                <a:solidFill>
                  <a:srgbClr val="14161C"/>
                </a:solidFill>
                <a:latin typeface="Consolas"/>
              </a:rPr>
              <a:t>code_verifier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, envia solo su hash, y presenta el original al canjear el codigo. Un codigo interceptado no sirve sin el verifier.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Capturado por scripts/verificar-pkce.mjs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2410C"/>
                </a:solidFill>
                <a:latin typeface="Calibri"/>
              </a:rPr>
              <a:t>DEMOSTRACION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El API Manager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57984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0824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La instancia creada y en funcionamiento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78608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441448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 i="0">
                <a:solidFill>
                  <a:srgbClr val="14161C"/>
                </a:solidFill>
                <a:latin typeface="Calibri"/>
              </a:rPr>
              <a:t>Rutas limpias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con la version en el path publico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99232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862072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Una </a:t>
            </a:r>
            <a:r>
              <a:rPr sz="1400" b="1" i="0">
                <a:solidFill>
                  <a:srgbClr val="14161C"/>
                </a:solidFill>
                <a:latin typeface="Calibri"/>
              </a:rPr>
              <a:t>integracion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por ruta hacia cada microservicio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419856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282696"/>
            <a:ext cx="4828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 i="0">
                <a:solidFill>
                  <a:srgbClr val="14161C"/>
                </a:solidFill>
                <a:latin typeface="Calibri"/>
              </a:rPr>
              <a:t>Autorizador JWT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apuntado al JWKS de Azure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057400"/>
            <a:ext cx="4782312" cy="17556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164592"/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14161C"/>
                </a:solidFill>
                <a:latin typeface="Consolas"/>
              </a:rPr>
              <a:t>GET /v1/productos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14161C"/>
                </a:solidFill>
                <a:latin typeface="Consolas"/>
              </a:rPr>
              <a:t>   → :8081/api/v1/productos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14161C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14161C"/>
                </a:solidFill>
                <a:latin typeface="Consolas"/>
              </a:rPr>
              <a:t>POST /v1/pedidos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14161C"/>
                </a:solidFill>
                <a:latin typeface="Consolas"/>
              </a:rPr>
              <a:t>   → :8082/api/v1/pedidos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057400"/>
            <a:ext cx="45720" cy="1755648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478231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i="0">
                <a:solidFill>
                  <a:srgbClr val="5F6673"/>
                </a:solidFill>
                <a:latin typeface="Calibri"/>
              </a:rPr>
              <a:t>La version vive en la ruta publica: publicar una </a:t>
            </a:r>
            <a:r>
              <a:rPr sz="1200" b="0" i="0">
                <a:solidFill>
                  <a:srgbClr val="5F6673"/>
                </a:solidFill>
                <a:latin typeface="Consolas"/>
              </a:rPr>
              <a:t>v2</a:t>
            </a:r>
            <a:r>
              <a:rPr sz="1200" b="0" i="0">
                <a:solidFill>
                  <a:srgbClr val="5F6673"/>
                </a:solidFill>
                <a:latin typeface="Calibri"/>
              </a:rPr>
              <a:t> no afecta a los clientes de </a:t>
            </a:r>
            <a:r>
              <a:rPr sz="1200" b="0" i="0">
                <a:solidFill>
                  <a:srgbClr val="5F6673"/>
                </a:solidFill>
                <a:latin typeface="Consolas"/>
              </a:rPr>
              <a:t>v1</a:t>
            </a:r>
            <a:r>
              <a:rPr sz="1200" b="0" i="0">
                <a:solidFill>
                  <a:srgbClr val="5F6673"/>
                </a:solidFill>
                <a:latin typeface="Calibri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API Gateway → Routes · Integrations · Authorization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2410C"/>
                </a:solidFill>
                <a:latin typeface="Calibri"/>
              </a:rPr>
              <a:t>DEMOSTRACION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CORS, sin sobrepermisos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057400"/>
          <a:ext cx="10360152" cy="115214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43600"/>
                <a:gridCol w="4416552"/>
              </a:tblGrid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5F6673"/>
                          </a:solidFill>
                          <a:latin typeface="Calibri"/>
                        </a:rPr>
                        <a:t>ORIGEN DE LA PETICION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5F6673"/>
                          </a:solidFill>
                          <a:latin typeface="Calibri"/>
                        </a:rPr>
                        <a:t>RESPUESTA DEL PREFLIGHT</a:t>
                      </a:r>
                    </a:p>
                  </a:txBody>
                  <a:tcPr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El dominio del frontend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7F4B"/>
                          </a:solidFill>
                          <a:latin typeface="Calibri"/>
                        </a:rPr>
                        <a:t>permitido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Cualquier otro origen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C2410C"/>
                          </a:solidFill>
                          <a:latin typeface="Calibri"/>
                        </a:rPr>
                        <a:t>bloqueado</a:t>
                      </a:r>
                    </a:p>
                  </a:txBody>
                  <a:tcPr anchor="ctr" marL="45720"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361188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Origenes declarados de forma explicita, no un comodin, y solo con los metodos y cabeceras que la aplicacion necesita.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API Gateway → CORS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2410C"/>
                </a:solidFill>
                <a:latin typeface="Calibri"/>
              </a:rPr>
              <a:t>DEMOSTRACION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200, 401 y 403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057400"/>
          <a:ext cx="10360152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572000"/>
                <a:gridCol w="1463040"/>
                <a:gridCol w="4325112"/>
              </a:tblGrid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5F6673"/>
                          </a:solidFill>
                          <a:latin typeface="Calibri"/>
                        </a:rPr>
                        <a:t>SITUACION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5F6673"/>
                          </a:solidFill>
                          <a:latin typeface="Calibri"/>
                        </a:rPr>
                        <a:t>CODIGO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5F6673"/>
                          </a:solidFill>
                          <a:latin typeface="Calibri"/>
                        </a:rPr>
                        <a:t>QUIEN RESPONDE</a:t>
                      </a:r>
                    </a:p>
                  </a:txBody>
                  <a:tcPr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Token valido y permisos suficientes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A7F4B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el microservicio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Sin token, o token invalido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C2410C"/>
                          </a:solidFill>
                          <a:latin typeface="Calibri"/>
                        </a:rPr>
                        <a:t>401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autorizador del API Gateway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Token valido, sin el rol o el scope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C2410C"/>
                          </a:solidFill>
                          <a:latin typeface="Calibri"/>
                        </a:rPr>
                        <a:t>403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Spring Security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Peticion que no viene del gateway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C2410C"/>
                          </a:solidFill>
                          <a:latin typeface="Calibri"/>
                        </a:rPr>
                        <a:t>403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4161C"/>
                          </a:solidFill>
                          <a:latin typeface="Calibri"/>
                        </a:rPr>
                        <a:t>filtro de origen</a:t>
                      </a:r>
                    </a:p>
                  </a:txBody>
                  <a:tcPr anchor="ctr" marL="45720"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3434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 i="0">
                <a:solidFill>
                  <a:srgbClr val="14161C"/>
                </a:solidFill>
                <a:latin typeface="Calibri"/>
              </a:rPr>
              <a:t>401</a:t>
            </a:r>
            <a:r>
              <a:rPr sz="1600" b="0" i="0">
                <a:solidFill>
                  <a:srgbClr val="14161C"/>
                </a:solidFill>
                <a:latin typeface="Calibri"/>
              </a:rPr>
              <a:t> significa </a:t>
            </a:r>
            <a:r>
              <a:rPr sz="1600" b="0" i="1">
                <a:solidFill>
                  <a:srgbClr val="14161C"/>
                </a:solidFill>
                <a:latin typeface="Calibri"/>
              </a:rPr>
              <a:t>no se quien eres</a:t>
            </a:r>
            <a:r>
              <a:rPr sz="1600" b="0" i="0">
                <a:solidFill>
                  <a:srgbClr val="14161C"/>
                </a:solidFill>
                <a:latin typeface="Calibri"/>
              </a:rPr>
              <a:t>.  </a:t>
            </a:r>
            <a:r>
              <a:rPr sz="1600" b="1" i="0">
                <a:solidFill>
                  <a:srgbClr val="14161C"/>
                </a:solidFill>
                <a:latin typeface="Calibri"/>
              </a:rPr>
              <a:t>403</a:t>
            </a:r>
            <a:r>
              <a:rPr sz="1600" b="0" i="0">
                <a:solidFill>
                  <a:srgbClr val="14161C"/>
                </a:solidFill>
                <a:latin typeface="Calibri"/>
              </a:rPr>
              <a:t> significa </a:t>
            </a:r>
            <a:r>
              <a:rPr sz="1600" b="0" i="1">
                <a:solidFill>
                  <a:srgbClr val="14161C"/>
                </a:solidFill>
                <a:latin typeface="Calibri"/>
              </a:rPr>
              <a:t>se quien eres y no puedes</a:t>
            </a:r>
            <a:r>
              <a:rPr sz="1600" b="0" i="0">
                <a:solidFill>
                  <a:srgbClr val="14161C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El usuario cliente recibe 403 en /v1/pedidos/todos con un token perfectamente valido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4FD8"/>
                </a:solidFill>
                <a:latin typeface="Calibri"/>
              </a:rPr>
              <a:t>PUNTO DE ENTRADA UNICO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El gateway no oculta la instancia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La EC2 tiene IP publica. Un </a:t>
            </a:r>
            <a:r>
              <a:rPr sz="1400" b="0" i="0">
                <a:solidFill>
                  <a:srgbClr val="14161C"/>
                </a:solidFill>
                <a:latin typeface="Consolas"/>
              </a:rPr>
              <a:t>curl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directo se saltaria el gateway y su autorizador por completo.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0" i="0">
                <a:solidFill>
                  <a:srgbClr val="14161C"/>
                </a:solidFill>
                <a:latin typeface="Calibri"/>
              </a:rPr>
              <a:t>El gateway inyecta una cabecera secreta en cada integracion; los servicios rechazan con </a:t>
            </a:r>
            <a:r>
              <a:rPr sz="1400" b="1" i="0">
                <a:solidFill>
                  <a:srgbClr val="14161C"/>
                </a:solidFill>
                <a:latin typeface="Calibri"/>
              </a:rPr>
              <a:t>403</a:t>
            </a:r>
            <a:r>
              <a:rPr sz="1400" b="0" i="0">
                <a:solidFill>
                  <a:srgbClr val="14161C"/>
                </a:solidFill>
                <a:latin typeface="Calibri"/>
              </a:rPr>
              <a:t> lo que llegue sin ella.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2057400"/>
            <a:ext cx="4782312" cy="2286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tIns="219456" rIns="219456"/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 i="0">
                <a:solidFill>
                  <a:srgbClr val="14161C"/>
                </a:solidFill>
                <a:latin typeface="Calibri"/>
              </a:rPr>
              <a:t>Lo que esta medida no es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i="0">
                <a:solidFill>
                  <a:srgbClr val="5F6673"/>
                </a:solidFill>
                <a:latin typeface="Calibri"/>
              </a:rPr>
              <a:t>No es aislamiento de red. Quien conozca el secreto puede llamar directo. Lo correcto seria subred privada con VPC Link: unos USD 16 al mes, fuera del presupuesto de la cuenta academica.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2057400"/>
            <a:ext cx="45720" cy="2286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Decision consciente, documentada en docs/03-api-gateway.md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2410C"/>
                </a:solidFill>
                <a:latin typeface="Calibri"/>
              </a:rPr>
              <a:t>DEMOSTRACION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Desplegado, activo e integrado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57400"/>
            <a:ext cx="320040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tIns="219456" rIns="219456"/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 i="0">
                <a:solidFill>
                  <a:srgbClr val="14161C"/>
                </a:solidFill>
                <a:latin typeface="Calibri"/>
              </a:rPr>
              <a:t>EC2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i="0">
                <a:solidFill>
                  <a:srgbClr val="5F6673"/>
                </a:solidFill>
                <a:latin typeface="Calibri"/>
              </a:rPr>
              <a:t>Instancia corriendo con cuatro contenedores: los tres microservicios y nginx sirviendo la aplicacion.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57400"/>
            <a:ext cx="45720" cy="21031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98848" y="2057400"/>
            <a:ext cx="320040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tIns="219456" rIns="219456"/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 i="0">
                <a:solidFill>
                  <a:srgbClr val="14161C"/>
                </a:solidFill>
                <a:latin typeface="Calibri"/>
              </a:rPr>
              <a:t>RDS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i="0">
                <a:solidFill>
                  <a:srgbClr val="5F6673"/>
                </a:solidFill>
                <a:latin typeface="Calibri"/>
              </a:rPr>
              <a:t>MySQL disponible y </a:t>
            </a:r>
            <a:r>
              <a:rPr sz="1200" b="1" i="0">
                <a:solidFill>
                  <a:srgbClr val="5F6673"/>
                </a:solidFill>
                <a:latin typeface="Calibri"/>
              </a:rPr>
              <a:t>sin acceso publico</a:t>
            </a:r>
            <a:r>
              <a:rPr sz="1200" b="0" i="0">
                <a:solidFill>
                  <a:srgbClr val="5F6673"/>
                </a:solidFill>
                <a:latin typeface="Calibri"/>
              </a:rPr>
              <a:t>: solo lo alcanza el security group de la EC2.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98848" y="2057400"/>
            <a:ext cx="45720" cy="21031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83296" y="2057400"/>
            <a:ext cx="320040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tIns="219456" rIns="219456"/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1" i="0">
                <a:solidFill>
                  <a:srgbClr val="14161C"/>
                </a:solidFill>
                <a:latin typeface="Calibri"/>
              </a:rPr>
              <a:t>API Gateway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 i="0">
                <a:solidFill>
                  <a:srgbClr val="5F6673"/>
                </a:solidFill>
                <a:latin typeface="Calibri"/>
              </a:rPr>
              <a:t>Stage con HTTPS, unico punto de entrada desde Internet.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83296" y="2057400"/>
            <a:ext cx="45720" cy="21031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Consola de AWS → EC2 · RDS · API Gateway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4FD8"/>
                </a:solidFill>
                <a:latin typeface="Calibri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Lo que aprendi construyendolo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57984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2020824"/>
            <a:ext cx="100675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14161C"/>
                </a:solidFill>
                <a:latin typeface="Calibri"/>
              </a:rPr>
              <a:t>Validar por </a:t>
            </a:r>
            <a:r>
              <a:rPr sz="1500" b="1" i="0">
                <a:solidFill>
                  <a:srgbClr val="14161C"/>
                </a:solidFill>
                <a:latin typeface="Calibri"/>
              </a:rPr>
              <a:t>emisor</a:t>
            </a:r>
            <a:r>
              <a:rPr sz="1500" b="0" i="0">
                <a:solidFill>
                  <a:srgbClr val="14161C"/>
                </a:solidFill>
                <a:latin typeface="Calibri"/>
              </a:rPr>
              <a:t> y no contra un IdP fijo: migrar a Entra ID fue cambiar dos variables de entorno, sin tocar una linea de Java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78608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441448"/>
            <a:ext cx="100675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14161C"/>
                </a:solidFill>
                <a:latin typeface="Calibri"/>
              </a:rPr>
              <a:t>Construi un Identity Provider propio para entender el protocolo, y despues </a:t>
            </a:r>
            <a:r>
              <a:rPr sz="1500" b="1" i="0">
                <a:solidFill>
                  <a:srgbClr val="14161C"/>
                </a:solidFill>
                <a:latin typeface="Calibri"/>
              </a:rPr>
              <a:t>lo elimine</a:t>
            </a:r>
            <a:r>
              <a:rPr sz="1500" b="0" i="0">
                <a:solidFill>
                  <a:srgbClr val="14161C"/>
                </a:solidFill>
                <a:latin typeface="Calibri"/>
              </a:rPr>
              <a:t>: dejarlo habria sido un camino de acceso paralelo y mas debil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999232"/>
            <a:ext cx="146304" cy="45720"/>
          </a:xfrm>
          <a:prstGeom prst="rect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862072"/>
            <a:ext cx="100675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14161C"/>
                </a:solidFill>
                <a:latin typeface="Calibri"/>
              </a:rPr>
              <a:t>La seguridad se verifica, no se declara: </a:t>
            </a:r>
            <a:r>
              <a:rPr sz="1500" b="1" i="0">
                <a:solidFill>
                  <a:srgbClr val="14161C"/>
                </a:solidFill>
                <a:latin typeface="Calibri"/>
              </a:rPr>
              <a:t>20 de 20</a:t>
            </a:r>
            <a:r>
              <a:rPr sz="1500" b="0" i="0">
                <a:solidFill>
                  <a:srgbClr val="14161C"/>
                </a:solidFill>
                <a:latin typeface="Calibri"/>
              </a:rPr>
              <a:t> comprobaciones contra el despliegue y </a:t>
            </a:r>
            <a:r>
              <a:rPr sz="1500" b="1" i="0">
                <a:solidFill>
                  <a:srgbClr val="14161C"/>
                </a:solidFill>
                <a:latin typeface="Calibri"/>
              </a:rPr>
              <a:t>9 de 9</a:t>
            </a:r>
            <a:r>
              <a:rPr sz="1500" b="0" i="0">
                <a:solidFill>
                  <a:srgbClr val="14161C"/>
                </a:solidFill>
                <a:latin typeface="Calibri"/>
              </a:rPr>
              <a:t> del flujo de inicio de sesion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github.com/1samadhi/cloud-exp1-oidc · github.com/1samadhi/cloud-exp1-front-angular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85800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4FD8"/>
                </a:solidFill>
                <a:latin typeface="Calibri"/>
              </a:rPr>
              <a:t>NO PROYECTAR · APOYO DEL PRESENTADOR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4161C"/>
                </a:solidFill>
                <a:latin typeface="Calibri"/>
              </a:rPr>
              <a:t>Guion, minuto a minuto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057400"/>
          <a:ext cx="10360152" cy="30723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7280"/>
                <a:gridCol w="9262872"/>
              </a:tblGrid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5F667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5F6673"/>
                          </a:solidFill>
                          <a:latin typeface="Calibri"/>
                        </a:rPr>
                        <a:t>QUE HACER</a:t>
                      </a:r>
                    </a:p>
                  </a:txBody>
                  <a:tcPr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Laminas 1-3. El problema y la arquitectura.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Laminas 4-5 · Azure. Tenant, Users con roles, App registration.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Laminas 6-7 · Login en vivo, Mi token, y la prueba de PKCE.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4:00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Laminas 8-9 · AWS. Routes, Integrations, Authorization, CORS.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5:30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Lamina 10 · Codigos 200, 401 y los dos 403.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6:45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Laminas 11-12 · Entrada unica y consolas de EC2 y RDS.</a:t>
                      </a:r>
                    </a:p>
                  </a:txBody>
                  <a:tcPr anchor="ctr" marL="45720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7:45</a:t>
                      </a:r>
                    </a:p>
                  </a:txBody>
                  <a:tcPr anchor="ctr" marL="45720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4161C"/>
                          </a:solidFill>
                          <a:latin typeface="Calibri"/>
                        </a:rPr>
                        <a:t>Lamina 13 · Cierre.</a:t>
                      </a:r>
                    </a:p>
                  </a:txBody>
                  <a:tcPr anchor="ctr" marL="45720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6144768"/>
            <a:ext cx="10360152" cy="9525"/>
          </a:xfrm>
          <a:prstGeom prst="rect">
            <a:avLst/>
          </a:prstGeom>
          <a:solidFill>
            <a:srgbClr val="DF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199632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F6673"/>
                </a:solidFill>
                <a:latin typeface="Calibri"/>
              </a:rPr>
              <a:t>Las preguntas probables estan en docs/presentacion/README.md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1996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67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