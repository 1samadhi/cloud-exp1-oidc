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74519"/>
            <a:ext cx="10360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7DA2FF"/>
                </a:solidFill>
                <a:latin typeface="Calibri"/>
              </a:rPr>
              <a:t>DSY1107 · EVALUACION PARCIAL N.º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0152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600" b="1">
                <a:solidFill>
                  <a:srgbClr val="FFFFFF"/>
                </a:solidFill>
                <a:latin typeface="Calibri"/>
              </a:rPr>
              <a:t>Pedidos360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204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700" b="0" i="0">
                <a:solidFill>
                  <a:srgbClr val="A8B0BF"/>
                </a:solidFill>
                <a:latin typeface="Calibri"/>
              </a:rPr>
              <a:t>Arquitectura cloud-native multi-nube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0" i="0">
                <a:solidFill>
                  <a:srgbClr val="A8B0BF"/>
                </a:solidFill>
                <a:latin typeface="Calibri"/>
              </a:rPr>
              <a:t>con OAuth 2.0 y OpenID Connect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920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Calibri"/>
              </a:rPr>
              <a:t>ESTUDIANTE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A8B0BF"/>
                </a:solidFill>
                <a:latin typeface="Calibri"/>
              </a:rPr>
              <a:t>Ismael Oyarzun Montiel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48920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Calibri"/>
              </a:rPr>
              <a:t>IDENTIDAD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A8B0BF"/>
                </a:solidFill>
                <a:latin typeface="Calibri"/>
              </a:rPr>
              <a:t>Microsoft Entra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48920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Calibri"/>
              </a:rPr>
              <a:t>COMPUTO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A8B0BF"/>
                </a:solidFill>
                <a:latin typeface="Calibri"/>
              </a:rPr>
              <a:t>Amazon Web Services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8580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4FD8"/>
                </a:solidFill>
                <a:latin typeface="Calibri"/>
              </a:rPr>
              <a:t>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3000" b="1">
                <a:solidFill>
                  <a:srgbClr val="14161C"/>
                </a:solidFill>
                <a:latin typeface="Calibri"/>
              </a:rPr>
              <a:t>Dos nubes que no se conocen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1600"/>
              </a:spcAft>
            </a:pPr>
            <a:r>
              <a:rPr sz="1900" b="0" i="0">
                <a:solidFill>
                  <a:srgbClr val="14161C"/>
                </a:solidFill>
                <a:latin typeface="Calibri"/>
              </a:rPr>
              <a:t>La identidad la administra </a:t>
            </a:r>
            <a:r>
              <a:rPr sz="1900" b="1" i="0">
                <a:solidFill>
                  <a:srgbClr val="14161C"/>
                </a:solidFill>
                <a:latin typeface="Calibri"/>
              </a:rPr>
              <a:t>Azure</a:t>
            </a:r>
            <a:r>
              <a:rPr sz="1900" b="0" i="0">
                <a:solidFill>
                  <a:srgbClr val="14161C"/>
                </a:solidFill>
                <a:latin typeface="Calibri"/>
              </a:rPr>
              <a:t>. El computo vive en </a:t>
            </a:r>
            <a:r>
              <a:rPr sz="1900" b="1" i="0">
                <a:solidFill>
                  <a:srgbClr val="14161C"/>
                </a:solidFill>
                <a:latin typeface="Calibri"/>
              </a:rPr>
              <a:t>AWS</a:t>
            </a:r>
            <a:r>
              <a:rPr sz="1900" b="0" i="0">
                <a:solidFill>
                  <a:srgbClr val="14161C"/>
                </a:solidFill>
                <a:latin typeface="Calibri"/>
              </a:rPr>
              <a:t>. No comparten red, ni base de datos, ni credenciales.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</a:pPr>
            <a:r>
              <a:rPr sz="1900" b="0" i="0">
                <a:solidFill>
                  <a:srgbClr val="14161C"/>
                </a:solidFill>
                <a:latin typeface="Calibri"/>
              </a:rPr>
              <a:t>El unico puente es el </a:t>
            </a:r>
            <a:r>
              <a:rPr sz="1900" b="1" i="0">
                <a:solidFill>
                  <a:srgbClr val="14161C"/>
                </a:solidFill>
                <a:latin typeface="Calibri"/>
              </a:rPr>
              <a:t>JWKS</a:t>
            </a:r>
            <a:r>
              <a:rPr sz="1900" b="0" i="0">
                <a:solidFill>
                  <a:srgbClr val="14161C"/>
                </a:solidFill>
                <a:latin typeface="Calibri"/>
              </a:rPr>
              <a:t>: una URL publica desde la que AWS descarga las llaves con que verificar las firmas que emite Azure.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900" b="1" i="0">
                <a:solidFill>
                  <a:srgbClr val="1F4FD8"/>
                </a:solidFill>
                <a:latin typeface="Calibri"/>
              </a:rPr>
              <a:t>Solo criptografia de llave publica.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144768"/>
            <a:ext cx="10360152" cy="9525"/>
          </a:xfrm>
          <a:prstGeom prst="rect">
            <a:avLst/>
          </a:prstGeom>
          <a:solidFill>
            <a:srgbClr val="D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199632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F6673"/>
                </a:solidFill>
                <a:latin typeface="Calibri"/>
              </a:rPr>
              <a:t>Pedidos360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19963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673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8580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4FD8"/>
                </a:solidFill>
                <a:latin typeface="Calibri"/>
              </a:rPr>
              <a:t>ARQUITECTURA</a:t>
            </a:r>
          </a:p>
        </p:txBody>
      </p:sp>
      <p:pic>
        <p:nvPicPr>
          <p:cNvPr id="3" name="Picture 2" descr="dia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51560"/>
            <a:ext cx="10360152" cy="503618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14400" y="6144768"/>
            <a:ext cx="10360152" cy="9525"/>
          </a:xfrm>
          <a:prstGeom prst="rect">
            <a:avLst/>
          </a:prstGeom>
          <a:solidFill>
            <a:srgbClr val="D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199632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F6673"/>
                </a:solidFill>
                <a:latin typeface="Calibri"/>
              </a:rPr>
              <a:t>El token nace en Azure, se valida en el borde de AWS y otra vez dentro de cada microservicio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19963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67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8580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4FD8"/>
                </a:solidFill>
                <a:latin typeface="Calibri"/>
              </a:rPr>
              <a:t>COMPONENTES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3000" b="1">
                <a:solidFill>
                  <a:srgbClr val="14161C"/>
                </a:solidFill>
                <a:latin typeface="Calibri"/>
              </a:rPr>
              <a:t>Tres microservicios y un frontend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057400"/>
          <a:ext cx="10360152" cy="230428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26080"/>
                <a:gridCol w="7434072"/>
              </a:tblGrid>
              <a:tr h="38404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F6673"/>
                          </a:solidFill>
                          <a:latin typeface="Calibri"/>
                        </a:rPr>
                        <a:t>COMPONENTE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F6673"/>
                          </a:solidFill>
                          <a:latin typeface="Calibri"/>
                        </a:rPr>
                        <a:t>ROL</a:t>
                      </a:r>
                    </a:p>
                  </a:txBody>
                  <a:tcPr anchor="ctr"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61C"/>
                          </a:solidFill>
                          <a:latin typeface="Calibri"/>
                        </a:rPr>
                        <a:t>front-angular</a:t>
                      </a:r>
                    </a:p>
                  </a:txBody>
                  <a:tcPr anchor="ctr" marL="45720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61C"/>
                          </a:solidFill>
                          <a:latin typeface="Calibri"/>
                        </a:rPr>
                        <a:t>Angular 22 + MSAL. Authorization Code con PKCE</a:t>
                      </a:r>
                    </a:p>
                  </a:txBody>
                  <a:tcPr anchor="ctr" marL="45720"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61C"/>
                          </a:solidFill>
                          <a:latin typeface="Calibri"/>
                        </a:rPr>
                        <a:t>ms-productos</a:t>
                      </a:r>
                    </a:p>
                  </a:txBody>
                  <a:tcPr anchor="ctr" marL="45720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61C"/>
                          </a:solidFill>
                          <a:latin typeface="Calibri"/>
                        </a:rPr>
                        <a:t>Catalogo. Resource Server OAuth 2.0</a:t>
                      </a:r>
                    </a:p>
                  </a:txBody>
                  <a:tcPr anchor="ctr" marL="45720"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61C"/>
                          </a:solidFill>
                          <a:latin typeface="Calibri"/>
                        </a:rPr>
                        <a:t>ms-pedidos</a:t>
                      </a:r>
                    </a:p>
                  </a:txBody>
                  <a:tcPr anchor="ctr" marL="45720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61C"/>
                          </a:solidFill>
                          <a:latin typeface="Calibri"/>
                        </a:rPr>
                        <a:t>Pedidos. Autorizacion por rol y por scope</a:t>
                      </a:r>
                    </a:p>
                  </a:txBody>
                  <a:tcPr anchor="ctr" marL="45720"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61C"/>
                          </a:solidFill>
                          <a:latin typeface="Calibri"/>
                        </a:rPr>
                        <a:t>ms-auth</a:t>
                      </a:r>
                    </a:p>
                  </a:txBody>
                  <a:tcPr anchor="ctr" marL="45720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61C"/>
                          </a:solidFill>
                          <a:latin typeface="Calibri"/>
                        </a:rPr>
                        <a:t>BFF: registra usuarios en el tenant via Microsoft Graph</a:t>
                      </a:r>
                    </a:p>
                  </a:txBody>
                  <a:tcPr anchor="ctr" marL="45720"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61C"/>
                          </a:solidFill>
                          <a:latin typeface="Calibri"/>
                        </a:rPr>
                        <a:t>Amazon RDS</a:t>
                      </a:r>
                    </a:p>
                  </a:txBody>
                  <a:tcPr anchor="ctr" marL="45720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61C"/>
                          </a:solidFill>
                          <a:latin typeface="Calibri"/>
                        </a:rPr>
                        <a:t>MySQL 8, sin acceso desde Internet</a:t>
                      </a:r>
                    </a:p>
                  </a:txBody>
                  <a:tcPr anchor="ctr" marL="45720"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14400" y="6144768"/>
            <a:ext cx="10360152" cy="9525"/>
          </a:xfrm>
          <a:prstGeom prst="rect">
            <a:avLst/>
          </a:prstGeom>
          <a:solidFill>
            <a:srgbClr val="D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199632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F6673"/>
                </a:solidFill>
                <a:latin typeface="Calibri"/>
              </a:rPr>
              <a:t>Pedidos360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19963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67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8580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2410C"/>
                </a:solidFill>
                <a:latin typeface="Calibri"/>
              </a:rPr>
              <a:t>DEMOSTRACION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3000" b="1">
                <a:solidFill>
                  <a:srgbClr val="14161C"/>
                </a:solidFill>
                <a:latin typeface="Calibri"/>
              </a:rPr>
              <a:t>El tenant en el IDaaS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57984"/>
            <a:ext cx="146304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8" y="2020824"/>
            <a:ext cx="4828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>
                <a:solidFill>
                  <a:srgbClr val="14161C"/>
                </a:solidFill>
                <a:latin typeface="Calibri"/>
              </a:rPr>
              <a:t>Tenant </a:t>
            </a:r>
            <a:r>
              <a:rPr sz="1400" b="1" i="0">
                <a:solidFill>
                  <a:srgbClr val="14161C"/>
                </a:solidFill>
                <a:latin typeface="Calibri"/>
              </a:rPr>
              <a:t>Pedidos360</a:t>
            </a:r>
            <a:r>
              <a:rPr sz="1400" b="0" i="0">
                <a:solidFill>
                  <a:srgbClr val="14161C"/>
                </a:solidFill>
                <a:latin typeface="Calibri"/>
              </a:rPr>
              <a:t> en Microsoft Entra ID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78608"/>
            <a:ext cx="146304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2441448"/>
            <a:ext cx="4828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>
                <a:solidFill>
                  <a:srgbClr val="14161C"/>
                </a:solidFill>
                <a:latin typeface="Calibri"/>
              </a:rPr>
              <a:t>Usuarios registrados con sus </a:t>
            </a:r>
            <a:r>
              <a:rPr sz="1400" b="1" i="0">
                <a:solidFill>
                  <a:srgbClr val="14161C"/>
                </a:solidFill>
                <a:latin typeface="Calibri"/>
              </a:rPr>
              <a:t>roles</a:t>
            </a:r>
            <a:r>
              <a:rPr sz="1400" b="0" i="0">
                <a:solidFill>
                  <a:srgbClr val="14161C"/>
                </a:solidFill>
                <a:latin typeface="Calibri"/>
              </a:rPr>
              <a:t> asignados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999232"/>
            <a:ext cx="146304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2862072"/>
            <a:ext cx="4828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>
                <a:solidFill>
                  <a:srgbClr val="14161C"/>
                </a:solidFill>
                <a:latin typeface="Calibri"/>
              </a:rPr>
              <a:t>Uno de ellos creado desde el propio frontend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057400"/>
            <a:ext cx="4782312" cy="21031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92608" tIns="219456" rIns="219456"/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1" i="0">
                <a:solidFill>
                  <a:srgbClr val="14161C"/>
                </a:solidFill>
                <a:latin typeface="Calibri"/>
              </a:rPr>
              <a:t>Entra ID Free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No trae autoservicio de registro. El formulario del frontend llama a </a:t>
            </a:r>
            <a:r>
              <a:rPr sz="1200" b="0" i="0">
                <a:solidFill>
                  <a:srgbClr val="5F6673"/>
                </a:solidFill>
                <a:latin typeface="Consolas"/>
              </a:rPr>
              <a:t>ms-auth</a:t>
            </a:r>
            <a:r>
              <a:rPr sz="1200" b="0" i="0">
                <a:solidFill>
                  <a:srgbClr val="5F6673"/>
                </a:solidFill>
                <a:latin typeface="Calibri"/>
              </a:rPr>
              <a:t>, que crea la cuenta con Microsoft Graph usando su propio secreto. Una SPA no podria: tendria que exponerlo.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057400"/>
            <a:ext cx="45720" cy="21031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6144768"/>
            <a:ext cx="10360152" cy="9525"/>
          </a:xfrm>
          <a:prstGeom prst="rect">
            <a:avLst/>
          </a:prstGeom>
          <a:solidFill>
            <a:srgbClr val="D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6199632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F6673"/>
                </a:solidFill>
                <a:latin typeface="Calibri"/>
              </a:rPr>
              <a:t>entra.microsoft.com →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5912" y="619963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67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8580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2410C"/>
                </a:solidFill>
                <a:latin typeface="Calibri"/>
              </a:rPr>
              <a:t>DEMOSTRACION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3000" b="1">
                <a:solidFill>
                  <a:srgbClr val="14161C"/>
                </a:solidFill>
                <a:latin typeface="Calibri"/>
              </a:rPr>
              <a:t>La aplicacion registrada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57984"/>
            <a:ext cx="146304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8" y="2020824"/>
            <a:ext cx="4828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>
                <a:solidFill>
                  <a:srgbClr val="14161C"/>
                </a:solidFill>
                <a:latin typeface="Calibri"/>
              </a:rPr>
              <a:t>Redirecciones de tipo </a:t>
            </a:r>
            <a:r>
              <a:rPr sz="1400" b="1" i="0">
                <a:solidFill>
                  <a:srgbClr val="14161C"/>
                </a:solidFill>
                <a:latin typeface="Calibri"/>
              </a:rPr>
              <a:t>SPA</a:t>
            </a:r>
            <a:r>
              <a:rPr sz="1400" b="0" i="0">
                <a:solidFill>
                  <a:srgbClr val="14161C"/>
                </a:solidFill>
                <a:latin typeface="Calibri"/>
              </a:rPr>
              <a:t>, con </a:t>
            </a:r>
            <a:r>
              <a:rPr sz="1400" b="0" i="0">
                <a:solidFill>
                  <a:srgbClr val="14161C"/>
                </a:solidFill>
                <a:latin typeface="Consolas"/>
              </a:rPr>
              <a:t>Web</a:t>
            </a:r>
            <a:r>
              <a:rPr sz="1400" b="0" i="0">
                <a:solidFill>
                  <a:srgbClr val="14161C"/>
                </a:solidFill>
                <a:latin typeface="Calibri"/>
              </a:rPr>
              <a:t> vacio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78608"/>
            <a:ext cx="146304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2441448"/>
            <a:ext cx="4828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>
                <a:solidFill>
                  <a:srgbClr val="14161C"/>
                </a:solidFill>
                <a:latin typeface="Calibri"/>
              </a:rPr>
              <a:t>Scopes </a:t>
            </a:r>
            <a:r>
              <a:rPr sz="1400" b="0" i="0">
                <a:solidFill>
                  <a:srgbClr val="14161C"/>
                </a:solidFill>
                <a:latin typeface="Consolas"/>
              </a:rPr>
              <a:t>productos.leer</a:t>
            </a:r>
            <a:r>
              <a:rPr sz="1400" b="0" i="0">
                <a:solidFill>
                  <a:srgbClr val="14161C"/>
                </a:solidFill>
                <a:latin typeface="Calibri"/>
              </a:rPr>
              <a:t> y </a:t>
            </a:r>
            <a:r>
              <a:rPr sz="1400" b="0" i="0">
                <a:solidFill>
                  <a:srgbClr val="14161C"/>
                </a:solidFill>
                <a:latin typeface="Consolas"/>
              </a:rPr>
              <a:t>pedidos.escribir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999232"/>
            <a:ext cx="146304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2862072"/>
            <a:ext cx="4828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>
                <a:solidFill>
                  <a:srgbClr val="14161C"/>
                </a:solidFill>
                <a:latin typeface="Calibri"/>
              </a:rPr>
              <a:t>Roles </a:t>
            </a:r>
            <a:r>
              <a:rPr sz="1400" b="0" i="0">
                <a:solidFill>
                  <a:srgbClr val="14161C"/>
                </a:solidFill>
                <a:latin typeface="Consolas"/>
              </a:rPr>
              <a:t>ADMIN</a:t>
            </a:r>
            <a:r>
              <a:rPr sz="1400" b="0" i="0">
                <a:solidFill>
                  <a:srgbClr val="14161C"/>
                </a:solidFill>
                <a:latin typeface="Calibri"/>
              </a:rPr>
              <a:t> y </a:t>
            </a:r>
            <a:r>
              <a:rPr sz="1400" b="0" i="0">
                <a:solidFill>
                  <a:srgbClr val="14161C"/>
                </a:solidFill>
                <a:latin typeface="Consolas"/>
              </a:rPr>
              <a:t>USER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057400"/>
            <a:ext cx="4782312" cy="2286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92608" tIns="219456" rIns="219456"/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1" i="0">
                <a:solidFill>
                  <a:srgbClr val="14161C"/>
                </a:solidFill>
                <a:latin typeface="Calibri"/>
              </a:rPr>
              <a:t>La decision que no perdona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Con </a:t>
            </a:r>
            <a:r>
              <a:rPr sz="1200" b="0" i="0">
                <a:solidFill>
                  <a:srgbClr val="5F6673"/>
                </a:solidFill>
                <a:latin typeface="Consolas"/>
              </a:rPr>
              <a:t>Web</a:t>
            </a:r>
            <a:r>
              <a:rPr sz="1200" b="0" i="0">
                <a:solidFill>
                  <a:srgbClr val="5F6673"/>
                </a:solidFill>
                <a:latin typeface="Calibri"/>
              </a:rPr>
              <a:t>, Azure exige un </a:t>
            </a:r>
            <a:r>
              <a:rPr sz="1200" b="0" i="0">
                <a:solidFill>
                  <a:srgbClr val="5F6673"/>
                </a:solidFill>
                <a:latin typeface="Consolas"/>
              </a:rPr>
              <a:t>client_secret</a:t>
            </a:r>
            <a:r>
              <a:rPr sz="1200" b="0" i="0">
                <a:solidFill>
                  <a:srgbClr val="5F6673"/>
                </a:solidFill>
                <a:latin typeface="Calibri"/>
              </a:rPr>
              <a:t> que una SPA no puede esconder. Con </a:t>
            </a:r>
            <a:r>
              <a:rPr sz="1200" b="0" i="0">
                <a:solidFill>
                  <a:srgbClr val="5F6673"/>
                </a:solidFill>
                <a:latin typeface="Consolas"/>
              </a:rPr>
              <a:t>SPA</a:t>
            </a:r>
            <a:r>
              <a:rPr sz="1200" b="0" i="0">
                <a:solidFill>
                  <a:srgbClr val="5F6673"/>
                </a:solidFill>
                <a:latin typeface="Calibri"/>
              </a:rPr>
              <a:t> habilita PKCE. Elegir mal no da ningun error evidente: el login falla recien al canjear el codigo.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057400"/>
            <a:ext cx="45720" cy="22860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6144768"/>
            <a:ext cx="10360152" cy="9525"/>
          </a:xfrm>
          <a:prstGeom prst="rect">
            <a:avLst/>
          </a:prstGeom>
          <a:solidFill>
            <a:srgbClr val="D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6199632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F6673"/>
                </a:solidFill>
                <a:latin typeface="Calibri"/>
              </a:rPr>
              <a:t>App registrations → Pedidos360 SPA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5912" y="619963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67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8580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2410C"/>
                </a:solidFill>
                <a:latin typeface="Calibri"/>
              </a:rPr>
              <a:t>DEMOSTRACION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3000" b="1">
                <a:solidFill>
                  <a:srgbClr val="14161C"/>
                </a:solidFill>
                <a:latin typeface="Calibri"/>
              </a:rPr>
              <a:t>Inicio de sesion y token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800" b="0" i="0">
                <a:solidFill>
                  <a:srgbClr val="14161C"/>
                </a:solidFill>
                <a:latin typeface="Calibri"/>
              </a:rPr>
              <a:t>Login con Microsoft desde la aplicacion, y en la pagina </a:t>
            </a:r>
            <a:r>
              <a:rPr sz="1800" b="1" i="0">
                <a:solidFill>
                  <a:srgbClr val="14161C"/>
                </a:solidFill>
                <a:latin typeface="Calibri"/>
              </a:rPr>
              <a:t>Mi token</a:t>
            </a:r>
            <a:r>
              <a:rPr sz="1800" b="0" i="0">
                <a:solidFill>
                  <a:srgbClr val="14161C"/>
                </a:solidFill>
                <a:latin typeface="Calibri"/>
              </a:rPr>
              <a:t>: el </a:t>
            </a:r>
            <a:r>
              <a:rPr sz="1800" b="0" i="0">
                <a:solidFill>
                  <a:srgbClr val="14161C"/>
                </a:solidFill>
                <a:latin typeface="Consolas"/>
              </a:rPr>
              <a:t>id_token</a:t>
            </a:r>
            <a:r>
              <a:rPr sz="1800" b="0" i="0">
                <a:solidFill>
                  <a:srgbClr val="14161C"/>
                </a:solidFill>
                <a:latin typeface="Calibri"/>
              </a:rPr>
              <a:t> con la identidad, el </a:t>
            </a:r>
            <a:r>
              <a:rPr sz="1800" b="0" i="0">
                <a:solidFill>
                  <a:srgbClr val="14161C"/>
                </a:solidFill>
                <a:latin typeface="Consolas"/>
              </a:rPr>
              <a:t>access_token</a:t>
            </a:r>
            <a:r>
              <a:rPr sz="1800" b="0" i="0">
                <a:solidFill>
                  <a:srgbClr val="14161C"/>
                </a:solidFill>
                <a:latin typeface="Calibri"/>
              </a:rPr>
              <a:t> con </a:t>
            </a:r>
            <a:r>
              <a:rPr sz="1800" b="0" i="0">
                <a:solidFill>
                  <a:srgbClr val="14161C"/>
                </a:solidFill>
                <a:latin typeface="Consolas"/>
              </a:rPr>
              <a:t>scp</a:t>
            </a:r>
            <a:r>
              <a:rPr sz="1800" b="0" i="0">
                <a:solidFill>
                  <a:srgbClr val="14161C"/>
                </a:solidFill>
                <a:latin typeface="Calibri"/>
              </a:rPr>
              <a:t> y </a:t>
            </a:r>
            <a:r>
              <a:rPr sz="1800" b="0" i="0">
                <a:solidFill>
                  <a:srgbClr val="14161C"/>
                </a:solidFill>
                <a:latin typeface="Consolas"/>
              </a:rPr>
              <a:t>roles</a:t>
            </a:r>
            <a:r>
              <a:rPr sz="1800" b="0" i="0">
                <a:solidFill>
                  <a:srgbClr val="14161C"/>
                </a:solidFill>
                <a:latin typeface="Calibri"/>
              </a:rPr>
              <a:t>, y lo que ve el microservicio tras validar la firma.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92608" tIns="219456" rIns="219456"/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1" i="0">
                <a:solidFill>
                  <a:srgbClr val="14161C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Un JWT va </a:t>
            </a:r>
            <a:r>
              <a:rPr sz="1200" b="1" i="0">
                <a:solidFill>
                  <a:srgbClr val="5F6673"/>
                </a:solidFill>
                <a:latin typeface="Calibri"/>
              </a:rPr>
              <a:t>firmado, no cifrado</a:t>
            </a:r>
            <a:r>
              <a:rPr sz="1200" b="0" i="0">
                <a:solidFill>
                  <a:srgbClr val="5F6673"/>
                </a:solidFill>
                <a:latin typeface="Calibri"/>
              </a:rPr>
              <a:t>. Cualquiera puede leer su contenido; nadie puede modificarlo sin invalidar la firma.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657600"/>
            <a:ext cx="45720" cy="91440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6144768"/>
            <a:ext cx="10360152" cy="9525"/>
          </a:xfrm>
          <a:prstGeom prst="rect">
            <a:avLst/>
          </a:prstGeom>
          <a:solidFill>
            <a:srgbClr val="D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199632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F6673"/>
                </a:solidFill>
                <a:latin typeface="Calibri"/>
              </a:rPr>
              <a:t>La aplicacion consume la API a traves del API Gateway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5912" y="619963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67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8580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4FD8"/>
                </a:solidFill>
                <a:latin typeface="Calibri"/>
              </a:rPr>
              <a:t>LA PRUEBA DE PKCE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3000" b="1">
                <a:solidFill>
                  <a:srgbClr val="14161C"/>
                </a:solidFill>
                <a:latin typeface="Calibri"/>
              </a:rPr>
              <a:t>Que el login funcione no demuestra PKCE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 i="0">
                <a:solidFill>
                  <a:srgbClr val="14161C"/>
                </a:solidFill>
                <a:latin typeface="Calibri"/>
              </a:rPr>
              <a:t>Un flujo implicito tambien iniciaria sesion. Lo que lo demuestra es la peticion al endpoint de autorizacion: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624328"/>
            <a:ext cx="10360152" cy="120700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tIns="164592"/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 i="0">
                <a:solidFill>
                  <a:srgbClr val="14161C"/>
                </a:solidFill>
                <a:latin typeface="Consolas"/>
              </a:rPr>
              <a:t>response_type         = code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 i="0">
                <a:solidFill>
                  <a:srgbClr val="14161C"/>
                </a:solidFill>
                <a:latin typeface="Consolas"/>
              </a:rPr>
              <a:t>code_challenge        = wKgfDWE2Xsjbnw0Vb50XLGrTVfQYtl9D9VRU-B1J_qk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 i="0">
                <a:solidFill>
                  <a:srgbClr val="14161C"/>
                </a:solidFill>
                <a:latin typeface="Consolas"/>
              </a:rPr>
              <a:t>code_challenge_method = S256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624328"/>
            <a:ext cx="45720" cy="120700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014216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 i="0">
                <a:solidFill>
                  <a:srgbClr val="14161C"/>
                </a:solidFill>
                <a:latin typeface="Calibri"/>
              </a:rPr>
              <a:t>El navegador inventa un </a:t>
            </a:r>
            <a:r>
              <a:rPr sz="1400" b="0" i="0">
                <a:solidFill>
                  <a:srgbClr val="14161C"/>
                </a:solidFill>
                <a:latin typeface="Consolas"/>
              </a:rPr>
              <a:t>code_verifier</a:t>
            </a:r>
            <a:r>
              <a:rPr sz="1400" b="0" i="0">
                <a:solidFill>
                  <a:srgbClr val="14161C"/>
                </a:solidFill>
                <a:latin typeface="Calibri"/>
              </a:rPr>
              <a:t>, envia solo su hash, y presenta el original al canjear el codigo. Un codigo interceptado no sirve sin el verifier.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6144768"/>
            <a:ext cx="10360152" cy="9525"/>
          </a:xfrm>
          <a:prstGeom prst="rect">
            <a:avLst/>
          </a:prstGeom>
          <a:solidFill>
            <a:srgbClr val="D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199632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F6673"/>
                </a:solidFill>
                <a:latin typeface="Calibri"/>
              </a:rPr>
              <a:t>Capturado por scripts/verificar-pkce.mjs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5912" y="619963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67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8580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2410C"/>
                </a:solidFill>
                <a:latin typeface="Calibri"/>
              </a:rPr>
              <a:t>DEMOSTRACION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3000" b="1">
                <a:solidFill>
                  <a:srgbClr val="14161C"/>
                </a:solidFill>
                <a:latin typeface="Calibri"/>
              </a:rPr>
              <a:t>El API Manager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57984"/>
            <a:ext cx="146304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8" y="2020824"/>
            <a:ext cx="4828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>
                <a:solidFill>
                  <a:srgbClr val="14161C"/>
                </a:solidFill>
                <a:latin typeface="Calibri"/>
              </a:rPr>
              <a:t>La instancia creada y en funcionamiento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78608"/>
            <a:ext cx="146304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2441448"/>
            <a:ext cx="4828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1" i="0">
                <a:solidFill>
                  <a:srgbClr val="14161C"/>
                </a:solidFill>
                <a:latin typeface="Calibri"/>
              </a:rPr>
              <a:t>Rutas limpias</a:t>
            </a:r>
            <a:r>
              <a:rPr sz="1400" b="0" i="0">
                <a:solidFill>
                  <a:srgbClr val="14161C"/>
                </a:solidFill>
                <a:latin typeface="Calibri"/>
              </a:rPr>
              <a:t> con la version en el path publico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999232"/>
            <a:ext cx="146304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2862072"/>
            <a:ext cx="4828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>
                <a:solidFill>
                  <a:srgbClr val="14161C"/>
                </a:solidFill>
                <a:latin typeface="Calibri"/>
              </a:rPr>
              <a:t>Una </a:t>
            </a:r>
            <a:r>
              <a:rPr sz="1400" b="1" i="0">
                <a:solidFill>
                  <a:srgbClr val="14161C"/>
                </a:solidFill>
                <a:latin typeface="Calibri"/>
              </a:rPr>
              <a:t>integracion</a:t>
            </a:r>
            <a:r>
              <a:rPr sz="1400" b="0" i="0">
                <a:solidFill>
                  <a:srgbClr val="14161C"/>
                </a:solidFill>
                <a:latin typeface="Calibri"/>
              </a:rPr>
              <a:t> por ruta hacia cada microservicio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419856"/>
            <a:ext cx="146304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3282696"/>
            <a:ext cx="4828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1" i="0">
                <a:solidFill>
                  <a:srgbClr val="14161C"/>
                </a:solidFill>
                <a:latin typeface="Calibri"/>
              </a:rPr>
              <a:t>Autorizador JWT</a:t>
            </a:r>
            <a:r>
              <a:rPr sz="1400" b="0" i="0">
                <a:solidFill>
                  <a:srgbClr val="14161C"/>
                </a:solidFill>
                <a:latin typeface="Calibri"/>
              </a:rPr>
              <a:t> apuntado al JWKS de Azure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2057400"/>
            <a:ext cx="4782312" cy="175564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tIns="164592"/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14161C"/>
                </a:solidFill>
                <a:latin typeface="Consolas"/>
              </a:rPr>
              <a:t>GET /v1/productos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14161C"/>
                </a:solidFill>
                <a:latin typeface="Consolas"/>
              </a:rPr>
              <a:t>   → :8081/api/v1/productos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14161C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14161C"/>
                </a:solidFill>
                <a:latin typeface="Consolas"/>
              </a:rPr>
              <a:t>POST /v1/pedidos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14161C"/>
                </a:solidFill>
                <a:latin typeface="Consolas"/>
              </a:rPr>
              <a:t>   → :8082/api/v1/pedidos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2057400"/>
            <a:ext cx="45720" cy="175564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160520"/>
            <a:ext cx="478231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La version vive en la ruta publica: publicar una </a:t>
            </a:r>
            <a:r>
              <a:rPr sz="1200" b="0" i="0">
                <a:solidFill>
                  <a:srgbClr val="5F6673"/>
                </a:solidFill>
                <a:latin typeface="Consolas"/>
              </a:rPr>
              <a:t>v2</a:t>
            </a:r>
            <a:r>
              <a:rPr sz="1200" b="0" i="0">
                <a:solidFill>
                  <a:srgbClr val="5F6673"/>
                </a:solidFill>
                <a:latin typeface="Calibri"/>
              </a:rPr>
              <a:t> no afecta a los clientes de </a:t>
            </a:r>
            <a:r>
              <a:rPr sz="1200" b="0" i="0">
                <a:solidFill>
                  <a:srgbClr val="5F6673"/>
                </a:solidFill>
                <a:latin typeface="Consolas"/>
              </a:rPr>
              <a:t>v1</a:t>
            </a:r>
            <a:r>
              <a:rPr sz="1200" b="0" i="0">
                <a:solidFill>
                  <a:srgbClr val="5F6673"/>
                </a:solidFill>
                <a:latin typeface="Calibri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6144768"/>
            <a:ext cx="10360152" cy="9525"/>
          </a:xfrm>
          <a:prstGeom prst="rect">
            <a:avLst/>
          </a:prstGeom>
          <a:solidFill>
            <a:srgbClr val="D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6199632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F6673"/>
                </a:solidFill>
                <a:latin typeface="Calibri"/>
              </a:rPr>
              <a:t>API Gateway → Routes · Integrations · Authorization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5912" y="619963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67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8580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2410C"/>
                </a:solidFill>
                <a:latin typeface="Calibri"/>
              </a:rPr>
              <a:t>DEMOSTRACION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3000" b="1">
                <a:solidFill>
                  <a:srgbClr val="14161C"/>
                </a:solidFill>
                <a:latin typeface="Calibri"/>
              </a:rPr>
              <a:t>CORS, sin sobrepermisos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057400"/>
          <a:ext cx="10360152" cy="115214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943600"/>
                <a:gridCol w="4416552"/>
              </a:tblGrid>
              <a:tr h="38404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F6673"/>
                          </a:solidFill>
                          <a:latin typeface="Calibri"/>
                        </a:rPr>
                        <a:t>ORIGEN DE LA PETICION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F6673"/>
                          </a:solidFill>
                          <a:latin typeface="Calibri"/>
                        </a:rPr>
                        <a:t>RESPUESTA DEL PREFLIGHT</a:t>
                      </a:r>
                    </a:p>
                  </a:txBody>
                  <a:tcPr anchor="ctr"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61C"/>
                          </a:solidFill>
                          <a:latin typeface="Calibri"/>
                        </a:rPr>
                        <a:t>El dominio del frontend</a:t>
                      </a:r>
                    </a:p>
                  </a:txBody>
                  <a:tcPr anchor="ctr" marL="45720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A7F4B"/>
                          </a:solidFill>
                          <a:latin typeface="Calibri"/>
                        </a:rPr>
                        <a:t>permitido</a:t>
                      </a:r>
                    </a:p>
                  </a:txBody>
                  <a:tcPr anchor="ctr" marL="45720"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61C"/>
                          </a:solidFill>
                          <a:latin typeface="Calibri"/>
                        </a:rPr>
                        <a:t>Cualquier otro origen</a:t>
                      </a:r>
                    </a:p>
                  </a:txBody>
                  <a:tcPr anchor="ctr" marL="45720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C2410C"/>
                          </a:solidFill>
                          <a:latin typeface="Calibri"/>
                        </a:rPr>
                        <a:t>bloqueado</a:t>
                      </a:r>
                    </a:p>
                  </a:txBody>
                  <a:tcPr anchor="ctr" marL="45720"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361188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 i="0">
                <a:solidFill>
                  <a:srgbClr val="14161C"/>
                </a:solidFill>
                <a:latin typeface="Calibri"/>
              </a:rPr>
              <a:t>Origenes declarados de forma explicita, no un comodin, y solo con los metodos y cabeceras que la aplicacion necesita.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6144768"/>
            <a:ext cx="10360152" cy="9525"/>
          </a:xfrm>
          <a:prstGeom prst="rect">
            <a:avLst/>
          </a:prstGeom>
          <a:solidFill>
            <a:srgbClr val="D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199632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F6673"/>
                </a:solidFill>
                <a:latin typeface="Calibri"/>
              </a:rPr>
              <a:t>API Gateway → CORS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19963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67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8580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2410C"/>
                </a:solidFill>
                <a:latin typeface="Calibri"/>
              </a:rPr>
              <a:t>DEMOSTRACION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3000" b="1">
                <a:solidFill>
                  <a:srgbClr val="14161C"/>
                </a:solidFill>
                <a:latin typeface="Calibri"/>
              </a:rPr>
              <a:t>200, 401 y 403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057400"/>
          <a:ext cx="10360152" cy="19202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572000"/>
                <a:gridCol w="1463040"/>
                <a:gridCol w="4325112"/>
              </a:tblGrid>
              <a:tr h="38404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F6673"/>
                          </a:solidFill>
                          <a:latin typeface="Calibri"/>
                        </a:rPr>
                        <a:t>SITUACION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F6673"/>
                          </a:solidFill>
                          <a:latin typeface="Calibri"/>
                        </a:rPr>
                        <a:t>CODIGO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F6673"/>
                          </a:solidFill>
                          <a:latin typeface="Calibri"/>
                        </a:rPr>
                        <a:t>QUIEN RESPONDE</a:t>
                      </a:r>
                    </a:p>
                  </a:txBody>
                  <a:tcPr anchor="ctr"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61C"/>
                          </a:solidFill>
                          <a:latin typeface="Calibri"/>
                        </a:rPr>
                        <a:t>Token valido y permisos suficientes</a:t>
                      </a:r>
                    </a:p>
                  </a:txBody>
                  <a:tcPr anchor="ctr" marL="45720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A7F4B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anchor="ctr" marL="45720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61C"/>
                          </a:solidFill>
                          <a:latin typeface="Calibri"/>
                        </a:rPr>
                        <a:t>el microservicio</a:t>
                      </a:r>
                    </a:p>
                  </a:txBody>
                  <a:tcPr anchor="ctr" marL="45720"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61C"/>
                          </a:solidFill>
                          <a:latin typeface="Calibri"/>
                        </a:rPr>
                        <a:t>Sin token, o token invalido</a:t>
                      </a:r>
                    </a:p>
                  </a:txBody>
                  <a:tcPr anchor="ctr" marL="45720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C2410C"/>
                          </a:solidFill>
                          <a:latin typeface="Calibri"/>
                        </a:rPr>
                        <a:t>401</a:t>
                      </a:r>
                    </a:p>
                  </a:txBody>
                  <a:tcPr anchor="ctr" marL="45720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61C"/>
                          </a:solidFill>
                          <a:latin typeface="Calibri"/>
                        </a:rPr>
                        <a:t>autorizador del API Gateway</a:t>
                      </a:r>
                    </a:p>
                  </a:txBody>
                  <a:tcPr anchor="ctr" marL="45720"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61C"/>
                          </a:solidFill>
                          <a:latin typeface="Calibri"/>
                        </a:rPr>
                        <a:t>Token valido, sin el rol o el scope</a:t>
                      </a:r>
                    </a:p>
                  </a:txBody>
                  <a:tcPr anchor="ctr" marL="45720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C2410C"/>
                          </a:solidFill>
                          <a:latin typeface="Calibri"/>
                        </a:rPr>
                        <a:t>403</a:t>
                      </a:r>
                    </a:p>
                  </a:txBody>
                  <a:tcPr anchor="ctr" marL="45720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61C"/>
                          </a:solidFill>
                          <a:latin typeface="Calibri"/>
                        </a:rPr>
                        <a:t>Spring Security</a:t>
                      </a:r>
                    </a:p>
                  </a:txBody>
                  <a:tcPr anchor="ctr" marL="45720"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61C"/>
                          </a:solidFill>
                          <a:latin typeface="Calibri"/>
                        </a:rPr>
                        <a:t>Peticion que no viene del gateway</a:t>
                      </a:r>
                    </a:p>
                  </a:txBody>
                  <a:tcPr anchor="ctr" marL="45720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C2410C"/>
                          </a:solidFill>
                          <a:latin typeface="Calibri"/>
                        </a:rPr>
                        <a:t>403</a:t>
                      </a:r>
                    </a:p>
                  </a:txBody>
                  <a:tcPr anchor="ctr" marL="45720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61C"/>
                          </a:solidFill>
                          <a:latin typeface="Calibri"/>
                        </a:rPr>
                        <a:t>filtro de origen</a:t>
                      </a:r>
                    </a:p>
                  </a:txBody>
                  <a:tcPr anchor="ctr" marL="45720"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3434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1" i="0">
                <a:solidFill>
                  <a:srgbClr val="14161C"/>
                </a:solidFill>
                <a:latin typeface="Calibri"/>
              </a:rPr>
              <a:t>401</a:t>
            </a:r>
            <a:r>
              <a:rPr sz="1600" b="0" i="0">
                <a:solidFill>
                  <a:srgbClr val="14161C"/>
                </a:solidFill>
                <a:latin typeface="Calibri"/>
              </a:rPr>
              <a:t> significa </a:t>
            </a:r>
            <a:r>
              <a:rPr sz="1600" b="0" i="1">
                <a:solidFill>
                  <a:srgbClr val="14161C"/>
                </a:solidFill>
                <a:latin typeface="Calibri"/>
              </a:rPr>
              <a:t>no se quien eres</a:t>
            </a:r>
            <a:r>
              <a:rPr sz="1600" b="0" i="0">
                <a:solidFill>
                  <a:srgbClr val="14161C"/>
                </a:solidFill>
                <a:latin typeface="Calibri"/>
              </a:rPr>
              <a:t>.  </a:t>
            </a:r>
            <a:r>
              <a:rPr sz="1600" b="1" i="0">
                <a:solidFill>
                  <a:srgbClr val="14161C"/>
                </a:solidFill>
                <a:latin typeface="Calibri"/>
              </a:rPr>
              <a:t>403</a:t>
            </a:r>
            <a:r>
              <a:rPr sz="1600" b="0" i="0">
                <a:solidFill>
                  <a:srgbClr val="14161C"/>
                </a:solidFill>
                <a:latin typeface="Calibri"/>
              </a:rPr>
              <a:t> significa </a:t>
            </a:r>
            <a:r>
              <a:rPr sz="1600" b="0" i="1">
                <a:solidFill>
                  <a:srgbClr val="14161C"/>
                </a:solidFill>
                <a:latin typeface="Calibri"/>
              </a:rPr>
              <a:t>se quien eres y no puedes</a:t>
            </a:r>
            <a:r>
              <a:rPr sz="1600" b="0" i="0">
                <a:solidFill>
                  <a:srgbClr val="14161C"/>
                </a:solidFill>
                <a:latin typeface="Calibri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6144768"/>
            <a:ext cx="10360152" cy="9525"/>
          </a:xfrm>
          <a:prstGeom prst="rect">
            <a:avLst/>
          </a:prstGeom>
          <a:solidFill>
            <a:srgbClr val="D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199632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F6673"/>
                </a:solidFill>
                <a:latin typeface="Calibri"/>
              </a:rPr>
              <a:t>El usuario cliente recibe 403 en /v1/pedidos/todos con un token perfectamente valido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19963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67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8580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4FD8"/>
                </a:solidFill>
                <a:latin typeface="Calibri"/>
              </a:rPr>
              <a:t>PUNTO DE ENTRADA UNICO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3000" b="1">
                <a:solidFill>
                  <a:srgbClr val="14161C"/>
                </a:solidFill>
                <a:latin typeface="Calibri"/>
              </a:rPr>
              <a:t>El gateway no oculta la instancia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1200"/>
              </a:spcAft>
            </a:pPr>
            <a:r>
              <a:rPr sz="1400" b="0" i="0">
                <a:solidFill>
                  <a:srgbClr val="14161C"/>
                </a:solidFill>
                <a:latin typeface="Calibri"/>
              </a:rPr>
              <a:t>La EC2 tiene IP publica. Un </a:t>
            </a:r>
            <a:r>
              <a:rPr sz="1400" b="0" i="0">
                <a:solidFill>
                  <a:srgbClr val="14161C"/>
                </a:solidFill>
                <a:latin typeface="Consolas"/>
              </a:rPr>
              <a:t>curl</a:t>
            </a:r>
            <a:r>
              <a:rPr sz="1400" b="0" i="0">
                <a:solidFill>
                  <a:srgbClr val="14161C"/>
                </a:solidFill>
                <a:latin typeface="Calibri"/>
              </a:rPr>
              <a:t> directo se saltaria el gateway y su autorizador por completo.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 i="0">
                <a:solidFill>
                  <a:srgbClr val="14161C"/>
                </a:solidFill>
                <a:latin typeface="Calibri"/>
              </a:rPr>
              <a:t>El gateway inyecta una cabecera secreta en cada integracion; los servicios rechazan con </a:t>
            </a:r>
            <a:r>
              <a:rPr sz="1400" b="1" i="0">
                <a:solidFill>
                  <a:srgbClr val="14161C"/>
                </a:solidFill>
                <a:latin typeface="Calibri"/>
              </a:rPr>
              <a:t>403</a:t>
            </a:r>
            <a:r>
              <a:rPr sz="1400" b="0" i="0">
                <a:solidFill>
                  <a:srgbClr val="14161C"/>
                </a:solidFill>
                <a:latin typeface="Calibri"/>
              </a:rPr>
              <a:t> lo que llegue sin ella.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92240" y="2057400"/>
            <a:ext cx="4782312" cy="2286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92608" tIns="219456" rIns="219456"/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1" i="0">
                <a:solidFill>
                  <a:srgbClr val="14161C"/>
                </a:solidFill>
                <a:latin typeface="Calibri"/>
              </a:rPr>
              <a:t>Lo que esta medida no es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No es aislamiento de red. Quien conozca el secreto puede llamar directo. Lo correcto seria subred privada con VPC Link: unos USD 16 al mes, fuera del presupuesto de la cuenta academica.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2057400"/>
            <a:ext cx="45720" cy="22860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6144768"/>
            <a:ext cx="10360152" cy="9525"/>
          </a:xfrm>
          <a:prstGeom prst="rect">
            <a:avLst/>
          </a:prstGeom>
          <a:solidFill>
            <a:srgbClr val="D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199632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F6673"/>
                </a:solidFill>
                <a:latin typeface="Calibri"/>
              </a:rPr>
              <a:t>Decision consciente, documentada en docs/03-api-gateway.md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5912" y="619963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673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8580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2410C"/>
                </a:solidFill>
                <a:latin typeface="Calibri"/>
              </a:rPr>
              <a:t>DEMOSTRACION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3000" b="1">
                <a:solidFill>
                  <a:srgbClr val="14161C"/>
                </a:solidFill>
                <a:latin typeface="Calibri"/>
              </a:rPr>
              <a:t>Desplegado, activo e integrado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57400"/>
            <a:ext cx="3200400" cy="21031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92608" tIns="219456" rIns="219456"/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1" i="0">
                <a:solidFill>
                  <a:srgbClr val="14161C"/>
                </a:solidFill>
                <a:latin typeface="Calibri"/>
              </a:rPr>
              <a:t>EC2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Instancia corriendo con cuatro contenedores: los tres microservicios y nginx sirviendo la aplicacion.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57400"/>
            <a:ext cx="45720" cy="21031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98848" y="2057400"/>
            <a:ext cx="3200400" cy="21031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92608" tIns="219456" rIns="219456"/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1" i="0">
                <a:solidFill>
                  <a:srgbClr val="14161C"/>
                </a:solidFill>
                <a:latin typeface="Calibri"/>
              </a:rPr>
              <a:t>RDS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MySQL disponible y </a:t>
            </a:r>
            <a:r>
              <a:rPr sz="1200" b="1" i="0">
                <a:solidFill>
                  <a:srgbClr val="5F6673"/>
                </a:solidFill>
                <a:latin typeface="Calibri"/>
              </a:rPr>
              <a:t>sin acceso publico</a:t>
            </a:r>
            <a:r>
              <a:rPr sz="1200" b="0" i="0">
                <a:solidFill>
                  <a:srgbClr val="5F6673"/>
                </a:solidFill>
                <a:latin typeface="Calibri"/>
              </a:rPr>
              <a:t>: solo lo alcanza el security group de la EC2.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98848" y="2057400"/>
            <a:ext cx="45720" cy="21031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83296" y="2057400"/>
            <a:ext cx="3200400" cy="21031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92608" tIns="219456" rIns="219456"/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1" i="0">
                <a:solidFill>
                  <a:srgbClr val="14161C"/>
                </a:solidFill>
                <a:latin typeface="Calibri"/>
              </a:rPr>
              <a:t>API Gateway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Stage con HTTPS, unico punto de entrada desde Internet.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83296" y="2057400"/>
            <a:ext cx="45720" cy="21031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6144768"/>
            <a:ext cx="10360152" cy="9525"/>
          </a:xfrm>
          <a:prstGeom prst="rect">
            <a:avLst/>
          </a:prstGeom>
          <a:solidFill>
            <a:srgbClr val="D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199632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F6673"/>
                </a:solidFill>
                <a:latin typeface="Calibri"/>
              </a:rPr>
              <a:t>Consola de AWS → EC2 · RDS · API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5912" y="619963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673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8580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4FD8"/>
                </a:solidFill>
                <a:latin typeface="Calibri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3000" b="1">
                <a:solidFill>
                  <a:srgbClr val="14161C"/>
                </a:solidFill>
                <a:latin typeface="Calibri"/>
              </a:rPr>
              <a:t>Lo que aprendi construyendolo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57984"/>
            <a:ext cx="146304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8" y="2020824"/>
            <a:ext cx="100675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 i="0">
                <a:solidFill>
                  <a:srgbClr val="14161C"/>
                </a:solidFill>
                <a:latin typeface="Calibri"/>
              </a:rPr>
              <a:t>Validar por </a:t>
            </a:r>
            <a:r>
              <a:rPr sz="1500" b="1" i="0">
                <a:solidFill>
                  <a:srgbClr val="14161C"/>
                </a:solidFill>
                <a:latin typeface="Calibri"/>
              </a:rPr>
              <a:t>emisor</a:t>
            </a:r>
            <a:r>
              <a:rPr sz="1500" b="0" i="0">
                <a:solidFill>
                  <a:srgbClr val="14161C"/>
                </a:solidFill>
                <a:latin typeface="Calibri"/>
              </a:rPr>
              <a:t> y no contra un IdP fijo: migrar a Entra ID fue cambiar dos variables de entorno, sin tocar una linea de Java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78608"/>
            <a:ext cx="146304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2441448"/>
            <a:ext cx="100675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 i="0">
                <a:solidFill>
                  <a:srgbClr val="14161C"/>
                </a:solidFill>
                <a:latin typeface="Calibri"/>
              </a:rPr>
              <a:t>Construi un Identity Provider propio para entender el protocolo, y despues </a:t>
            </a:r>
            <a:r>
              <a:rPr sz="1500" b="1" i="0">
                <a:solidFill>
                  <a:srgbClr val="14161C"/>
                </a:solidFill>
                <a:latin typeface="Calibri"/>
              </a:rPr>
              <a:t>lo elimine</a:t>
            </a:r>
            <a:r>
              <a:rPr sz="1500" b="0" i="0">
                <a:solidFill>
                  <a:srgbClr val="14161C"/>
                </a:solidFill>
                <a:latin typeface="Calibri"/>
              </a:rPr>
              <a:t>: dejarlo habria sido un camino de acceso paralelo y mas debil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999232"/>
            <a:ext cx="146304" cy="4572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2862072"/>
            <a:ext cx="100675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 i="0">
                <a:solidFill>
                  <a:srgbClr val="14161C"/>
                </a:solidFill>
                <a:latin typeface="Calibri"/>
              </a:rPr>
              <a:t>La seguridad se verifica, no se declara: </a:t>
            </a:r>
            <a:r>
              <a:rPr sz="1500" b="1" i="0">
                <a:solidFill>
                  <a:srgbClr val="14161C"/>
                </a:solidFill>
                <a:latin typeface="Calibri"/>
              </a:rPr>
              <a:t>20 de 20</a:t>
            </a:r>
            <a:r>
              <a:rPr sz="1500" b="0" i="0">
                <a:solidFill>
                  <a:srgbClr val="14161C"/>
                </a:solidFill>
                <a:latin typeface="Calibri"/>
              </a:rPr>
              <a:t> comprobaciones contra el despliegue y </a:t>
            </a:r>
            <a:r>
              <a:rPr sz="1500" b="1" i="0">
                <a:solidFill>
                  <a:srgbClr val="14161C"/>
                </a:solidFill>
                <a:latin typeface="Calibri"/>
              </a:rPr>
              <a:t>9 de 9</a:t>
            </a:r>
            <a:r>
              <a:rPr sz="1500" b="0" i="0">
                <a:solidFill>
                  <a:srgbClr val="14161C"/>
                </a:solidFill>
                <a:latin typeface="Calibri"/>
              </a:rPr>
              <a:t> del flujo de inicio de sesion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6144768"/>
            <a:ext cx="10360152" cy="9525"/>
          </a:xfrm>
          <a:prstGeom prst="rect">
            <a:avLst/>
          </a:prstGeom>
          <a:solidFill>
            <a:srgbClr val="D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199632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F6673"/>
                </a:solidFill>
                <a:latin typeface="Calibri"/>
              </a:rPr>
              <a:t>github.com/1samadhi/cloud-exp1-oidc · github.com/1samadhi/cloud-exp1-front-angular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5912" y="619963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673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8580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4FD8"/>
                </a:solidFill>
                <a:latin typeface="Calibri"/>
              </a:rPr>
              <a:t>NO PROYECTAR · APOYO DEL PRESENTADOR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3000" b="1">
                <a:solidFill>
                  <a:srgbClr val="14161C"/>
                </a:solidFill>
                <a:latin typeface="Calibri"/>
              </a:rPr>
              <a:t>Guion, minuto a minuto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057400"/>
          <a:ext cx="10360152" cy="307238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97280"/>
                <a:gridCol w="9262872"/>
              </a:tblGrid>
              <a:tr h="38404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F6673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5F6673"/>
                          </a:solidFill>
                          <a:latin typeface="Calibri"/>
                        </a:rPr>
                        <a:t>QUE HACER</a:t>
                      </a:r>
                    </a:p>
                  </a:txBody>
                  <a:tcPr anchor="ctr"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4161C"/>
                          </a:solidFill>
                          <a:latin typeface="Calibri"/>
                        </a:rPr>
                        <a:t>0:00</a:t>
                      </a:r>
                    </a:p>
                  </a:txBody>
                  <a:tcPr anchor="ctr" marL="45720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4161C"/>
                          </a:solidFill>
                          <a:latin typeface="Calibri"/>
                        </a:rPr>
                        <a:t>Laminas 1-3. El problema y la arquitectura.</a:t>
                      </a:r>
                    </a:p>
                  </a:txBody>
                  <a:tcPr anchor="ctr" marL="45720"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4161C"/>
                          </a:solidFill>
                          <a:latin typeface="Calibri"/>
                        </a:rPr>
                        <a:t>1:00</a:t>
                      </a:r>
                    </a:p>
                  </a:txBody>
                  <a:tcPr anchor="ctr" marL="45720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4161C"/>
                          </a:solidFill>
                          <a:latin typeface="Calibri"/>
                        </a:rPr>
                        <a:t>Laminas 4-5 · Azure. Tenant, Users con roles, App registration.</a:t>
                      </a:r>
                    </a:p>
                  </a:txBody>
                  <a:tcPr anchor="ctr" marL="45720"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4161C"/>
                          </a:solidFill>
                          <a:latin typeface="Calibri"/>
                        </a:rPr>
                        <a:t>2:30</a:t>
                      </a:r>
                    </a:p>
                  </a:txBody>
                  <a:tcPr anchor="ctr" marL="45720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4161C"/>
                          </a:solidFill>
                          <a:latin typeface="Calibri"/>
                        </a:rPr>
                        <a:t>Laminas 6-7 · Login en vivo, Mi token, y la prueba de PKCE.</a:t>
                      </a:r>
                    </a:p>
                  </a:txBody>
                  <a:tcPr anchor="ctr" marL="45720"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4161C"/>
                          </a:solidFill>
                          <a:latin typeface="Calibri"/>
                        </a:rPr>
                        <a:t>4:00</a:t>
                      </a:r>
                    </a:p>
                  </a:txBody>
                  <a:tcPr anchor="ctr" marL="45720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4161C"/>
                          </a:solidFill>
                          <a:latin typeface="Calibri"/>
                        </a:rPr>
                        <a:t>Laminas 8-9 · AWS. Routes, Integrations, Authorization, CORS.</a:t>
                      </a:r>
                    </a:p>
                  </a:txBody>
                  <a:tcPr anchor="ctr" marL="45720"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4161C"/>
                          </a:solidFill>
                          <a:latin typeface="Calibri"/>
                        </a:rPr>
                        <a:t>5:30</a:t>
                      </a:r>
                    </a:p>
                  </a:txBody>
                  <a:tcPr anchor="ctr" marL="45720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4161C"/>
                          </a:solidFill>
                          <a:latin typeface="Calibri"/>
                        </a:rPr>
                        <a:t>Lamina 10 · Codigos 200, 401 y los dos 403.</a:t>
                      </a:r>
                    </a:p>
                  </a:txBody>
                  <a:tcPr anchor="ctr" marL="45720"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4161C"/>
                          </a:solidFill>
                          <a:latin typeface="Calibri"/>
                        </a:rPr>
                        <a:t>6:45</a:t>
                      </a:r>
                    </a:p>
                  </a:txBody>
                  <a:tcPr anchor="ctr" marL="45720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4161C"/>
                          </a:solidFill>
                          <a:latin typeface="Calibri"/>
                        </a:rPr>
                        <a:t>Laminas 11-12 · Entrada unica y consolas de EC2 y RDS.</a:t>
                      </a:r>
                    </a:p>
                  </a:txBody>
                  <a:tcPr anchor="ctr" marL="45720"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4161C"/>
                          </a:solidFill>
                          <a:latin typeface="Calibri"/>
                        </a:rPr>
                        <a:t>7:45</a:t>
                      </a:r>
                    </a:p>
                  </a:txBody>
                  <a:tcPr anchor="ctr" marL="45720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4161C"/>
                          </a:solidFill>
                          <a:latin typeface="Calibri"/>
                        </a:rPr>
                        <a:t>Lamina 13 · Cierre.</a:t>
                      </a:r>
                    </a:p>
                  </a:txBody>
                  <a:tcPr anchor="ctr" marL="45720"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14400" y="6144768"/>
            <a:ext cx="10360152" cy="9525"/>
          </a:xfrm>
          <a:prstGeom prst="rect">
            <a:avLst/>
          </a:prstGeom>
          <a:solidFill>
            <a:srgbClr val="D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199632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F6673"/>
                </a:solidFill>
                <a:latin typeface="Calibri"/>
              </a:rPr>
              <a:t>Las preguntas probables estan en docs/presentacion/README.md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19963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673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